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MuseoModerno Medium" panose="020B0604020202020204" charset="0"/>
      <p:regular r:id="rId18"/>
    </p:embeddedFont>
    <p:embeddedFont>
      <p:font typeface="Source Sans 3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9046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582713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Student Management Program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681288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complete Java console application — input marks, calculate grades, and find the topper.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294385"/>
            <a:ext cx="1449288" cy="266402"/>
          </a:xfrm>
          <a:prstGeom prst="roundRect">
            <a:avLst>
              <a:gd name="adj" fmla="val 6386"/>
            </a:avLst>
          </a:prstGeom>
          <a:solidFill>
            <a:srgbClr val="DBE8F0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336875"/>
            <a:ext cx="127917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JAVA · BEGINNER FRIENDLY</a:t>
            </a:r>
            <a:endParaRPr lang="en-US" sz="8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B97CE3-A490-C68A-4151-DF9F78424718}"/>
              </a:ext>
            </a:extLst>
          </p:cNvPr>
          <p:cNvSpPr txBox="1"/>
          <p:nvPr/>
        </p:nvSpPr>
        <p:spPr>
          <a:xfrm>
            <a:off x="2785403" y="3200400"/>
            <a:ext cx="2658794" cy="10156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+mj-lt"/>
              </a:rPr>
              <a:t>PRESENTED BY:</a:t>
            </a:r>
          </a:p>
          <a:p>
            <a:r>
              <a:rPr lang="en-US" sz="1200" dirty="0">
                <a:latin typeface="+mj-lt"/>
              </a:rPr>
              <a:t>Abinaya S</a:t>
            </a:r>
          </a:p>
          <a:p>
            <a:r>
              <a:rPr lang="en-US" sz="1200" dirty="0">
                <a:latin typeface="+mj-lt"/>
              </a:rPr>
              <a:t>Priyanka</a:t>
            </a:r>
          </a:p>
          <a:p>
            <a:r>
              <a:rPr lang="en-US" sz="1200" dirty="0">
                <a:latin typeface="+mj-lt"/>
              </a:rPr>
              <a:t>Gokul M</a:t>
            </a:r>
          </a:p>
          <a:p>
            <a:r>
              <a:rPr lang="en-US" sz="1200" dirty="0">
                <a:latin typeface="+mj-lt"/>
              </a:rPr>
              <a:t>Manoharan</a:t>
            </a:r>
            <a:endParaRPr lang="en-IN" sz="1200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57780F-D8E5-007C-BF54-649FB3BA65E2}"/>
              </a:ext>
            </a:extLst>
          </p:cNvPr>
          <p:cNvSpPr txBox="1"/>
          <p:nvPr/>
        </p:nvSpPr>
        <p:spPr>
          <a:xfrm>
            <a:off x="302223" y="751337"/>
            <a:ext cx="4916659" cy="46166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latin typeface="+mj-lt"/>
              </a:rPr>
              <a:t>ByteCode</a:t>
            </a:r>
            <a:r>
              <a:rPr lang="en-US" sz="2400" dirty="0">
                <a:latin typeface="+mj-lt"/>
              </a:rPr>
              <a:t> Squad</a:t>
            </a:r>
            <a:endParaRPr lang="en-IN"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53740"/>
            <a:ext cx="427717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What This Program Does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480245"/>
            <a:ext cx="4004965" cy="1383878"/>
          </a:xfrm>
          <a:prstGeom prst="roundRect">
            <a:avLst>
              <a:gd name="adj" fmla="val 1537"/>
            </a:avLst>
          </a:prstGeom>
          <a:solidFill>
            <a:srgbClr val="F3EEE3"/>
          </a:solidFill>
          <a:ln/>
        </p:spPr>
      </p:sp>
      <p:sp>
        <p:nvSpPr>
          <p:cNvPr id="4" name="Shape 2"/>
          <p:cNvSpPr/>
          <p:nvPr/>
        </p:nvSpPr>
        <p:spPr>
          <a:xfrm>
            <a:off x="637877" y="1622003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325F7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4856" y="1738908"/>
            <a:ext cx="191319" cy="191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7877" y="218903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Input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37877" y="2495550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Roll No, Name &amp; 3 subject marks per student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42842" y="1480245"/>
            <a:ext cx="4005039" cy="1383878"/>
          </a:xfrm>
          <a:prstGeom prst="roundRect">
            <a:avLst>
              <a:gd name="adj" fmla="val 1537"/>
            </a:avLst>
          </a:prstGeom>
          <a:solidFill>
            <a:srgbClr val="F3EEE3"/>
          </a:solidFill>
          <a:ln/>
        </p:spPr>
      </p:sp>
      <p:sp>
        <p:nvSpPr>
          <p:cNvPr id="9" name="Shape 6"/>
          <p:cNvSpPr/>
          <p:nvPr/>
        </p:nvSpPr>
        <p:spPr>
          <a:xfrm>
            <a:off x="4784601" y="1622003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325F7B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01580" y="1738908"/>
            <a:ext cx="191319" cy="1913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84601" y="218903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Calculate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784601" y="2495550"/>
            <a:ext cx="3721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Total, Average &amp; Letter Grade automatically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96119" y="3005882"/>
            <a:ext cx="4004965" cy="1383878"/>
          </a:xfrm>
          <a:prstGeom prst="roundRect">
            <a:avLst>
              <a:gd name="adj" fmla="val 1537"/>
            </a:avLst>
          </a:prstGeom>
          <a:solidFill>
            <a:srgbClr val="F3EEE3"/>
          </a:solidFill>
          <a:ln/>
        </p:spPr>
      </p:sp>
      <p:sp>
        <p:nvSpPr>
          <p:cNvPr id="14" name="Shape 10"/>
          <p:cNvSpPr/>
          <p:nvPr/>
        </p:nvSpPr>
        <p:spPr>
          <a:xfrm>
            <a:off x="637877" y="3147640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325F7B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4856" y="3264545"/>
            <a:ext cx="191319" cy="1913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7877" y="371467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Display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37877" y="4021187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Full details for every student in the class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42842" y="3005882"/>
            <a:ext cx="4005039" cy="1383878"/>
          </a:xfrm>
          <a:prstGeom prst="roundRect">
            <a:avLst>
              <a:gd name="adj" fmla="val 1537"/>
            </a:avLst>
          </a:prstGeom>
          <a:solidFill>
            <a:srgbClr val="F3EEE3"/>
          </a:solidFill>
          <a:ln/>
        </p:spPr>
      </p:sp>
      <p:sp>
        <p:nvSpPr>
          <p:cNvPr id="19" name="Shape 14"/>
          <p:cNvSpPr/>
          <p:nvPr/>
        </p:nvSpPr>
        <p:spPr>
          <a:xfrm>
            <a:off x="4784601" y="3147640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325F7B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01580" y="3264545"/>
            <a:ext cx="191319" cy="19131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84601" y="371467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Topper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4784601" y="4021187"/>
            <a:ext cx="3721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Identifies and displays the highest-scoring student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87425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Program Structure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100" y="1313929"/>
            <a:ext cx="4787801" cy="284157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73611" y="2008457"/>
            <a:ext cx="407581" cy="40758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510481" y="3381753"/>
            <a:ext cx="1190138" cy="458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displayTopper()</a:t>
            </a:r>
            <a:endParaRPr lang="en-US" sz="14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81480" y="2009222"/>
            <a:ext cx="407582" cy="40758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010581" y="3496385"/>
            <a:ext cx="1190138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Main loop</a:t>
            </a:r>
            <a:endParaRPr lang="en-US" sz="14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81580" y="2009222"/>
            <a:ext cx="407582" cy="407582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2486226" y="3381753"/>
            <a:ext cx="1190138" cy="458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calculateGrade()</a:t>
            </a:r>
            <a:endParaRPr lang="en-US" sz="1400" dirty="0"/>
          </a:p>
        </p:txBody>
      </p:sp>
      <p:sp>
        <p:nvSpPr>
          <p:cNvPr id="10" name="Text 4"/>
          <p:cNvSpPr/>
          <p:nvPr/>
        </p:nvSpPr>
        <p:spPr>
          <a:xfrm>
            <a:off x="496119" y="4314974"/>
            <a:ext cx="8151763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Two helper functions keep the </a:t>
            </a:r>
            <a:r>
              <a:rPr lang="en-US" sz="1100" dirty="0">
                <a:solidFill>
                  <a:srgbClr val="2B4150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main()</a:t>
            </a: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method clean and focused on program flow.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219" y="992981"/>
            <a:ext cx="5262563" cy="315753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04396" y="443061"/>
            <a:ext cx="645096" cy="222349"/>
          </a:xfrm>
          <a:prstGeom prst="roundRect">
            <a:avLst>
              <a:gd name="adj" fmla="val 6456"/>
            </a:avLst>
          </a:prstGeom>
          <a:noFill/>
          <a:ln w="4763">
            <a:solidFill>
              <a:srgbClr val="325F7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080894" y="483691"/>
            <a:ext cx="492100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50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FUNCTION 1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6004396" y="705743"/>
            <a:ext cx="2698998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calculateGrade()</a:t>
            </a:r>
            <a:endParaRPr lang="en-US" sz="2350" dirty="0"/>
          </a:p>
        </p:txBody>
      </p:sp>
      <p:sp>
        <p:nvSpPr>
          <p:cNvPr id="6" name="Text 3"/>
          <p:cNvSpPr/>
          <p:nvPr/>
        </p:nvSpPr>
        <p:spPr>
          <a:xfrm>
            <a:off x="6004396" y="1180430"/>
            <a:ext cx="2698998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Takes an average, returns a letter grade.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004396" y="1470273"/>
            <a:ext cx="2698998" cy="731862"/>
          </a:xfrm>
          <a:prstGeom prst="roundRect">
            <a:avLst>
              <a:gd name="adj" fmla="val 9371"/>
            </a:avLst>
          </a:prstGeom>
          <a:solidFill>
            <a:srgbClr val="FFFCF5"/>
          </a:solidFill>
          <a:ln w="14288">
            <a:solidFill>
              <a:srgbClr val="D9D4C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90109" y="1470273"/>
            <a:ext cx="57150" cy="731862"/>
          </a:xfrm>
          <a:prstGeom prst="roundRect">
            <a:avLst>
              <a:gd name="adj" fmla="val 31395"/>
            </a:avLst>
          </a:prstGeom>
          <a:solidFill>
            <a:srgbClr val="325F7B"/>
          </a:solidFill>
          <a:ln/>
        </p:spPr>
      </p:sp>
      <p:sp>
        <p:nvSpPr>
          <p:cNvPr id="9" name="Text 6"/>
          <p:cNvSpPr/>
          <p:nvPr/>
        </p:nvSpPr>
        <p:spPr>
          <a:xfrm>
            <a:off x="6181130" y="1604144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181130" y="1891903"/>
            <a:ext cx="2388394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≥ 90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004396" y="2303041"/>
            <a:ext cx="2698998" cy="731862"/>
          </a:xfrm>
          <a:prstGeom prst="roundRect">
            <a:avLst>
              <a:gd name="adj" fmla="val 9371"/>
            </a:avLst>
          </a:prstGeom>
          <a:solidFill>
            <a:srgbClr val="FFFCF5"/>
          </a:solidFill>
          <a:ln w="14288">
            <a:solidFill>
              <a:srgbClr val="D9D4C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90109" y="2303041"/>
            <a:ext cx="57150" cy="731862"/>
          </a:xfrm>
          <a:prstGeom prst="roundRect">
            <a:avLst>
              <a:gd name="adj" fmla="val 31395"/>
            </a:avLst>
          </a:prstGeom>
          <a:solidFill>
            <a:srgbClr val="325F7B"/>
          </a:solidFill>
          <a:ln/>
        </p:spPr>
      </p:sp>
      <p:sp>
        <p:nvSpPr>
          <p:cNvPr id="13" name="Text 10"/>
          <p:cNvSpPr/>
          <p:nvPr/>
        </p:nvSpPr>
        <p:spPr>
          <a:xfrm>
            <a:off x="6181130" y="2436912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B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181130" y="2724671"/>
            <a:ext cx="2388394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≥ 75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004396" y="3135809"/>
            <a:ext cx="2698998" cy="731862"/>
          </a:xfrm>
          <a:prstGeom prst="roundRect">
            <a:avLst>
              <a:gd name="adj" fmla="val 9371"/>
            </a:avLst>
          </a:prstGeom>
          <a:solidFill>
            <a:srgbClr val="FFFCF5"/>
          </a:solidFill>
          <a:ln w="14288">
            <a:solidFill>
              <a:srgbClr val="D9D4C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90109" y="3135809"/>
            <a:ext cx="57150" cy="731862"/>
          </a:xfrm>
          <a:prstGeom prst="roundRect">
            <a:avLst>
              <a:gd name="adj" fmla="val 31395"/>
            </a:avLst>
          </a:prstGeom>
          <a:solidFill>
            <a:srgbClr val="325F7B"/>
          </a:solidFill>
          <a:ln/>
        </p:spPr>
      </p:sp>
      <p:sp>
        <p:nvSpPr>
          <p:cNvPr id="17" name="Text 14"/>
          <p:cNvSpPr/>
          <p:nvPr/>
        </p:nvSpPr>
        <p:spPr>
          <a:xfrm>
            <a:off x="6181130" y="3269679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181130" y="3557439"/>
            <a:ext cx="2388394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≥ 50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004396" y="3968576"/>
            <a:ext cx="2698998" cy="731862"/>
          </a:xfrm>
          <a:prstGeom prst="roundRect">
            <a:avLst>
              <a:gd name="adj" fmla="val 9371"/>
            </a:avLst>
          </a:prstGeom>
          <a:solidFill>
            <a:srgbClr val="FFFCF5"/>
          </a:solidFill>
          <a:ln w="14288">
            <a:solidFill>
              <a:srgbClr val="D9D4C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990109" y="3968576"/>
            <a:ext cx="57150" cy="731862"/>
          </a:xfrm>
          <a:prstGeom prst="roundRect">
            <a:avLst>
              <a:gd name="adj" fmla="val 31395"/>
            </a:avLst>
          </a:prstGeom>
          <a:solidFill>
            <a:srgbClr val="325F7B"/>
          </a:solidFill>
          <a:ln/>
        </p:spPr>
      </p:sp>
      <p:sp>
        <p:nvSpPr>
          <p:cNvPr id="21" name="Text 18"/>
          <p:cNvSpPr/>
          <p:nvPr/>
        </p:nvSpPr>
        <p:spPr>
          <a:xfrm>
            <a:off x="6181130" y="4102447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181130" y="4390206"/>
            <a:ext cx="2388394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&lt; 50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5219" y="328910"/>
            <a:ext cx="3085654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Storing Student Data</a:t>
            </a:r>
            <a:endParaRPr lang="en-US" sz="2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219" y="1255886"/>
            <a:ext cx="5262563" cy="31575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04396" y="944835"/>
            <a:ext cx="2698998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Parallel arrays hold each student's data, indexed by position.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6004396" y="1411039"/>
            <a:ext cx="2698998" cy="426021"/>
          </a:xfrm>
          <a:prstGeom prst="roundRect">
            <a:avLst>
              <a:gd name="adj" fmla="val 4212"/>
            </a:avLst>
          </a:prstGeom>
          <a:solidFill>
            <a:srgbClr val="F3EEE3"/>
          </a:solidFill>
          <a:ln/>
        </p:spPr>
      </p:sp>
      <p:sp>
        <p:nvSpPr>
          <p:cNvPr id="6" name="Text 3"/>
          <p:cNvSpPr/>
          <p:nvPr/>
        </p:nvSpPr>
        <p:spPr>
          <a:xfrm>
            <a:off x="6123980" y="1530623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int[] rollNo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004396" y="1937965"/>
            <a:ext cx="2698998" cy="426021"/>
          </a:xfrm>
          <a:prstGeom prst="roundRect">
            <a:avLst>
              <a:gd name="adj" fmla="val 4212"/>
            </a:avLst>
          </a:prstGeom>
          <a:solidFill>
            <a:srgbClr val="F3EEE3"/>
          </a:solidFill>
          <a:ln/>
        </p:spPr>
      </p:sp>
      <p:sp>
        <p:nvSpPr>
          <p:cNvPr id="8" name="Text 5"/>
          <p:cNvSpPr/>
          <p:nvPr/>
        </p:nvSpPr>
        <p:spPr>
          <a:xfrm>
            <a:off x="6123980" y="2057549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String[] name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004396" y="2464891"/>
            <a:ext cx="2698998" cy="426021"/>
          </a:xfrm>
          <a:prstGeom prst="roundRect">
            <a:avLst>
              <a:gd name="adj" fmla="val 4212"/>
            </a:avLst>
          </a:prstGeom>
          <a:solidFill>
            <a:srgbClr val="F3EEE3"/>
          </a:solidFill>
          <a:ln/>
        </p:spPr>
      </p:sp>
      <p:sp>
        <p:nvSpPr>
          <p:cNvPr id="10" name="Text 7"/>
          <p:cNvSpPr/>
          <p:nvPr/>
        </p:nvSpPr>
        <p:spPr>
          <a:xfrm>
            <a:off x="6123980" y="2584475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int[] total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004396" y="2991817"/>
            <a:ext cx="2698998" cy="426021"/>
          </a:xfrm>
          <a:prstGeom prst="roundRect">
            <a:avLst>
              <a:gd name="adj" fmla="val 4212"/>
            </a:avLst>
          </a:prstGeom>
          <a:solidFill>
            <a:srgbClr val="F3EEE3"/>
          </a:solidFill>
          <a:ln/>
        </p:spPr>
      </p:sp>
      <p:sp>
        <p:nvSpPr>
          <p:cNvPr id="12" name="Text 9"/>
          <p:cNvSpPr/>
          <p:nvPr/>
        </p:nvSpPr>
        <p:spPr>
          <a:xfrm>
            <a:off x="6123980" y="3111401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double[] average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004396" y="3518743"/>
            <a:ext cx="2698998" cy="426021"/>
          </a:xfrm>
          <a:prstGeom prst="roundRect">
            <a:avLst>
              <a:gd name="adj" fmla="val 4212"/>
            </a:avLst>
          </a:prstGeom>
          <a:solidFill>
            <a:srgbClr val="F3EEE3"/>
          </a:solidFill>
          <a:ln/>
        </p:spPr>
      </p:sp>
      <p:sp>
        <p:nvSpPr>
          <p:cNvPr id="14" name="Text 11"/>
          <p:cNvSpPr/>
          <p:nvPr/>
        </p:nvSpPr>
        <p:spPr>
          <a:xfrm>
            <a:off x="6123980" y="3638327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char[] grade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004396" y="4058245"/>
            <a:ext cx="2698998" cy="643533"/>
          </a:xfrm>
          <a:prstGeom prst="roundRect">
            <a:avLst>
              <a:gd name="adj" fmla="val 2788"/>
            </a:avLst>
          </a:prstGeom>
          <a:solidFill>
            <a:srgbClr val="B6D6FC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3980" y="4226793"/>
            <a:ext cx="149498" cy="11958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393061" y="4188991"/>
            <a:ext cx="2190750" cy="362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arrays share size </a:t>
            </a:r>
            <a:r>
              <a:rPr lang="en-US" sz="900" dirty="0">
                <a:solidFill>
                  <a:srgbClr val="000000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r>
              <a:rPr lang="en-US" sz="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same index = same student.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52897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The Input Loop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87940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MuseoModerno Light" pitchFamily="34" charset="0"/>
                <a:ea typeface="MuseoModerno Light" pitchFamily="34" charset="-122"/>
                <a:cs typeface="MuseoModerno Light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101304"/>
            <a:ext cx="4004965" cy="19050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2210246"/>
            <a:ext cx="185536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Read Roll No &amp; Name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516758"/>
            <a:ext cx="4004965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sc.nextInt()</a:t>
            </a: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then </a:t>
            </a:r>
            <a:r>
              <a:rPr lang="en-US" sz="1100" dirty="0">
                <a:solidFill>
                  <a:srgbClr val="2B4150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sc.nextLine()</a:t>
            </a: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clear the buffer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42842" y="187940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MuseoModerno Light" pitchFamily="34" charset="0"/>
                <a:ea typeface="MuseoModerno Light" pitchFamily="34" charset="-122"/>
                <a:cs typeface="MuseoModerno Light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42842" y="2101304"/>
            <a:ext cx="4005039" cy="19050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9" name="Text 7"/>
          <p:cNvSpPr/>
          <p:nvPr/>
        </p:nvSpPr>
        <p:spPr>
          <a:xfrm>
            <a:off x="4642842" y="2210246"/>
            <a:ext cx="187649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Read 3 Subject Marks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642842" y="2516758"/>
            <a:ext cx="4005039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Three separate </a:t>
            </a:r>
            <a:r>
              <a:rPr lang="en-US" sz="1100" dirty="0">
                <a:solidFill>
                  <a:srgbClr val="2B4150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nextInt()</a:t>
            </a: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calls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6119" y="30058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MuseoModerno Light" pitchFamily="34" charset="0"/>
                <a:ea typeface="MuseoModerno Light" pitchFamily="34" charset="-122"/>
                <a:cs typeface="MuseoModerno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3227784"/>
            <a:ext cx="4004965" cy="19050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13" name="Text 11"/>
          <p:cNvSpPr/>
          <p:nvPr/>
        </p:nvSpPr>
        <p:spPr>
          <a:xfrm>
            <a:off x="496119" y="333672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Compute &amp; Store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6119" y="3643238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Total, average, and grade saved to arrays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42842" y="30058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MuseoModerno Light" pitchFamily="34" charset="0"/>
                <a:ea typeface="MuseoModerno Light" pitchFamily="34" charset="-122"/>
                <a:cs typeface="MuseoModerno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42842" y="3227784"/>
            <a:ext cx="4005039" cy="19050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17" name="Text 15"/>
          <p:cNvSpPr/>
          <p:nvPr/>
        </p:nvSpPr>
        <p:spPr>
          <a:xfrm>
            <a:off x="4642842" y="333672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Track Topper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642842" y="3643238"/>
            <a:ext cx="4005039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Update </a:t>
            </a:r>
            <a:r>
              <a:rPr lang="en-US" sz="1100" dirty="0">
                <a:solidFill>
                  <a:srgbClr val="2B4150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highest</a:t>
            </a: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</a:t>
            </a:r>
            <a:r>
              <a:rPr lang="en-US" sz="1100" dirty="0">
                <a:solidFill>
                  <a:srgbClr val="2B4150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topperIndex</a:t>
            </a: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if current total is greater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2901" y="526777"/>
            <a:ext cx="642417" cy="259407"/>
          </a:xfrm>
          <a:prstGeom prst="roundRect">
            <a:avLst>
              <a:gd name="adj" fmla="val 6251"/>
            </a:avLst>
          </a:prstGeom>
          <a:noFill/>
          <a:ln w="4763">
            <a:solidFill>
              <a:srgbClr val="325F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701" y="572021"/>
            <a:ext cx="470818" cy="1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50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LOGIC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2901" y="837679"/>
            <a:ext cx="2655094" cy="84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Finding the Topper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472901" y="1811015"/>
            <a:ext cx="2655094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Inside the input loop, compare each student's total to the running maximum.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72901" y="2378125"/>
            <a:ext cx="2655094" cy="1114574"/>
          </a:xfrm>
          <a:prstGeom prst="roundRect">
            <a:avLst>
              <a:gd name="adj" fmla="val 1818"/>
            </a:avLst>
          </a:prstGeom>
          <a:solidFill>
            <a:srgbClr val="F2EFE8"/>
          </a:solidFill>
          <a:ln/>
        </p:spPr>
      </p:sp>
      <p:sp>
        <p:nvSpPr>
          <p:cNvPr id="7" name="Shape 5"/>
          <p:cNvSpPr/>
          <p:nvPr/>
        </p:nvSpPr>
        <p:spPr>
          <a:xfrm>
            <a:off x="466204" y="2378125"/>
            <a:ext cx="2668488" cy="1114574"/>
          </a:xfrm>
          <a:prstGeom prst="roundRect">
            <a:avLst>
              <a:gd name="adj" fmla="val 1818"/>
            </a:avLst>
          </a:prstGeom>
          <a:solidFill>
            <a:srgbClr val="F2EFE8"/>
          </a:solidFill>
          <a:ln/>
        </p:spPr>
      </p:sp>
      <p:sp>
        <p:nvSpPr>
          <p:cNvPr id="8" name="Text 6"/>
          <p:cNvSpPr/>
          <p:nvPr/>
        </p:nvSpPr>
        <p:spPr>
          <a:xfrm>
            <a:off x="635050" y="2513186"/>
            <a:ext cx="2330797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2B41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(total[i] &gt; highest) {</a:t>
            </a:r>
            <a:endParaRPr lang="en-US" sz="105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2B41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highest = total[i];</a:t>
            </a:r>
            <a:endParaRPr lang="en-US" sz="105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2B41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topperIndex = i;</a:t>
            </a:r>
            <a:endParaRPr lang="en-US" sz="105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2B41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2901" y="3637583"/>
            <a:ext cx="2655094" cy="979140"/>
          </a:xfrm>
          <a:prstGeom prst="roundRect">
            <a:avLst>
              <a:gd name="adj" fmla="val 2070"/>
            </a:avLst>
          </a:prstGeom>
          <a:solidFill>
            <a:srgbClr val="C9DDE9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963" y="3835747"/>
            <a:ext cx="168846" cy="13506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1870" y="3800029"/>
            <a:ext cx="2081064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Store the </a:t>
            </a:r>
            <a:r>
              <a:rPr lang="en-US" sz="10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index</a:t>
            </a:r>
            <a:r>
              <a:rPr lang="en-US" sz="10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not the value — needed to look up all topper details later.</a:t>
            </a:r>
            <a:endParaRPr lang="en-US" sz="10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2412" y="1007715"/>
            <a:ext cx="5213449" cy="31280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292275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Displaying Results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947863"/>
            <a:ext cx="4722763" cy="1903363"/>
          </a:xfrm>
          <a:prstGeom prst="roundRect">
            <a:avLst>
              <a:gd name="adj" fmla="val 1117"/>
            </a:avLst>
          </a:prstGeom>
          <a:solidFill>
            <a:srgbClr val="F3EEE3"/>
          </a:solidFill>
          <a:ln/>
        </p:spPr>
      </p:sp>
      <p:sp>
        <p:nvSpPr>
          <p:cNvPr id="5" name="Shape 2"/>
          <p:cNvSpPr/>
          <p:nvPr/>
        </p:nvSpPr>
        <p:spPr>
          <a:xfrm>
            <a:off x="496119" y="1947863"/>
            <a:ext cx="2361381" cy="1072232"/>
          </a:xfrm>
          <a:prstGeom prst="roundRect">
            <a:avLst>
              <a:gd name="adj" fmla="val 1983"/>
            </a:avLst>
          </a:prstGeom>
          <a:solidFill>
            <a:srgbClr val="F3EEE3"/>
          </a:solidFill>
          <a:ln/>
        </p:spPr>
      </p:sp>
      <p:sp>
        <p:nvSpPr>
          <p:cNvPr id="6" name="Text 3"/>
          <p:cNvSpPr/>
          <p:nvPr/>
        </p:nvSpPr>
        <p:spPr>
          <a:xfrm>
            <a:off x="637877" y="208962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Student List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37877" y="2396133"/>
            <a:ext cx="207786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Loop through all arrays, printing each student's full record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857500" y="1947863"/>
            <a:ext cx="2361381" cy="1072232"/>
          </a:xfrm>
          <a:prstGeom prst="rect">
            <a:avLst/>
          </a:prstGeom>
          <a:solidFill>
            <a:srgbClr val="F3EEE3"/>
          </a:solidFill>
          <a:ln/>
        </p:spPr>
      </p:sp>
      <p:sp>
        <p:nvSpPr>
          <p:cNvPr id="9" name="Shape 6"/>
          <p:cNvSpPr/>
          <p:nvPr/>
        </p:nvSpPr>
        <p:spPr>
          <a:xfrm>
            <a:off x="2857500" y="1947863"/>
            <a:ext cx="19050" cy="1072232"/>
          </a:xfrm>
          <a:prstGeom prst="roundRect">
            <a:avLst>
              <a:gd name="adj" fmla="val 111628"/>
            </a:avLst>
          </a:prstGeom>
          <a:solidFill>
            <a:srgbClr val="D9D4C9"/>
          </a:solidFill>
          <a:ln/>
        </p:spPr>
      </p:sp>
      <p:sp>
        <p:nvSpPr>
          <p:cNvPr id="10" name="Text 7"/>
          <p:cNvSpPr/>
          <p:nvPr/>
        </p:nvSpPr>
        <p:spPr>
          <a:xfrm>
            <a:off x="2999259" y="208962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Topper Call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2999259" y="2396133"/>
            <a:ext cx="2077864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displayTopper()</a:t>
            </a: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receives all five values via </a:t>
            </a:r>
            <a:r>
              <a:rPr lang="en-US" sz="1100" dirty="0">
                <a:solidFill>
                  <a:srgbClr val="2B4150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topperIndex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96119" y="3020095"/>
            <a:ext cx="4722763" cy="831131"/>
          </a:xfrm>
          <a:prstGeom prst="rect">
            <a:avLst/>
          </a:prstGeom>
          <a:solidFill>
            <a:srgbClr val="F3EEE3"/>
          </a:solidFill>
          <a:ln/>
        </p:spPr>
      </p:sp>
      <p:sp>
        <p:nvSpPr>
          <p:cNvPr id="13" name="Shape 10"/>
          <p:cNvSpPr/>
          <p:nvPr/>
        </p:nvSpPr>
        <p:spPr>
          <a:xfrm>
            <a:off x="496119" y="3020095"/>
            <a:ext cx="4722763" cy="19050"/>
          </a:xfrm>
          <a:prstGeom prst="roundRect">
            <a:avLst>
              <a:gd name="adj" fmla="val 111628"/>
            </a:avLst>
          </a:prstGeom>
          <a:solidFill>
            <a:srgbClr val="D9D4C9"/>
          </a:solidFill>
          <a:ln/>
        </p:spPr>
      </p:sp>
      <p:sp>
        <p:nvSpPr>
          <p:cNvPr id="14" name="Text 11"/>
          <p:cNvSpPr/>
          <p:nvPr/>
        </p:nvSpPr>
        <p:spPr>
          <a:xfrm>
            <a:off x="637877" y="316185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Clean Exit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37877" y="3468365"/>
            <a:ext cx="4439245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sc.close()</a:t>
            </a: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releases the Scanner resource properly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59446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Sample Output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885950"/>
            <a:ext cx="8151763" cy="2098030"/>
          </a:xfrm>
          <a:prstGeom prst="roundRect">
            <a:avLst>
              <a:gd name="adj" fmla="val 1014"/>
            </a:avLst>
          </a:prstGeom>
          <a:solidFill>
            <a:srgbClr val="F2EFE8"/>
          </a:solidFill>
          <a:ln/>
        </p:spPr>
      </p:sp>
      <p:sp>
        <p:nvSpPr>
          <p:cNvPr id="4" name="Shape 2"/>
          <p:cNvSpPr/>
          <p:nvPr/>
        </p:nvSpPr>
        <p:spPr>
          <a:xfrm>
            <a:off x="489049" y="1885950"/>
            <a:ext cx="8165902" cy="2098030"/>
          </a:xfrm>
          <a:prstGeom prst="roundRect">
            <a:avLst>
              <a:gd name="adj" fmla="val 1014"/>
            </a:avLst>
          </a:prstGeom>
          <a:solidFill>
            <a:srgbClr val="F2EFE8"/>
          </a:solidFill>
          <a:ln/>
        </p:spPr>
      </p:sp>
      <p:sp>
        <p:nvSpPr>
          <p:cNvPr id="5" name="Text 3"/>
          <p:cNvSpPr/>
          <p:nvPr/>
        </p:nvSpPr>
        <p:spPr>
          <a:xfrm>
            <a:off x="666229" y="2027709"/>
            <a:ext cx="781154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032F62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--- Student Details ---
Roll No: 101
Name: Alice
Total: 285
Average: 95.0
Grade: A
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66552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Key Takeaways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193057"/>
            <a:ext cx="838200" cy="5179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88823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Modular Design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194745"/>
            <a:ext cx="190500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Helper functions isolate logic — cleaner, testable code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98" y="2193057"/>
            <a:ext cx="838200" cy="5179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78298" y="288823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Parallel Arrays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78298" y="3194745"/>
            <a:ext cx="19050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Same index across arrays = same student's data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553" y="2193057"/>
            <a:ext cx="838200" cy="5179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0553" y="288823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Running Maximum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60553" y="3194745"/>
            <a:ext cx="19050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Track the topper during input — no second pass needed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807" y="2193057"/>
            <a:ext cx="838200" cy="5179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42807" y="2888233"/>
            <a:ext cx="18128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Scanner Best Practice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742807" y="3194745"/>
            <a:ext cx="1905074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Clear buffer with </a:t>
            </a:r>
            <a:r>
              <a:rPr lang="en-US" sz="1100" dirty="0">
                <a:solidFill>
                  <a:srgbClr val="2B4150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nextLine()</a:t>
            </a: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after </a:t>
            </a:r>
            <a:r>
              <a:rPr lang="en-US" sz="1100" dirty="0">
                <a:solidFill>
                  <a:srgbClr val="2B4150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nextInt()</a:t>
            </a: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; always close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0CB727-A88B-D5AC-49F7-0EC3A29BD53E}"/>
              </a:ext>
            </a:extLst>
          </p:cNvPr>
          <p:cNvSpPr txBox="1"/>
          <p:nvPr/>
        </p:nvSpPr>
        <p:spPr>
          <a:xfrm>
            <a:off x="323557" y="288388"/>
            <a:ext cx="3566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ED4C2A-8F92-80A6-9D39-387A9650F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847" y="851096"/>
            <a:ext cx="3064621" cy="30544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74CD98-D72F-DD05-73F9-C02C42264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165" y="851096"/>
            <a:ext cx="3162685" cy="30544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51B0AED-579C-C716-558D-B0301C1BA0B6}"/>
              </a:ext>
            </a:extLst>
          </p:cNvPr>
          <p:cNvSpPr txBox="1"/>
          <p:nvPr/>
        </p:nvSpPr>
        <p:spPr>
          <a:xfrm>
            <a:off x="2236763" y="4382086"/>
            <a:ext cx="4586068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1914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405</Words>
  <Application>Microsoft Office PowerPoint</Application>
  <PresentationFormat>On-screen Show (16:9)</PresentationFormat>
  <Paragraphs>93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Source Sans 3</vt:lpstr>
      <vt:lpstr>Consolas</vt:lpstr>
      <vt:lpstr>MuseoModerno Medium</vt:lpstr>
      <vt:lpstr>MuseoModerno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Abinaya S</cp:lastModifiedBy>
  <cp:revision>5</cp:revision>
  <dcterms:created xsi:type="dcterms:W3CDTF">2026-05-08T04:22:53Z</dcterms:created>
  <dcterms:modified xsi:type="dcterms:W3CDTF">2026-05-08T06:51:24Z</dcterms:modified>
</cp:coreProperties>
</file>